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Hello. My project compares three ImageNet-pretrained backbones on the ISIC 2019 dermoscopy dataset under one identical protocol, and looks at cost and interpretability, not only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is practical: a deployment decision depends on cost as much as on accuracy, and the literature rarely reports both under the same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ISIC 2019 merges HAM10000, BCN20000 and MSK. I split by lesion id so that repeated images of the same lesion cannot leak from train to test, which inflates scores in many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that is not the architecture is identical, so differences can be attributed to the backbone.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from left to right: the accuracy columns are close, the cost columns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converge within the 12-epoch budget thanks to ImageNet pre-training; note which one gets there first and how the validation loss behaves.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figure I would show to an engineering manager: the choice is a budget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Macro-F1 is dominated by the rare classes; class weighting helps but does not remove the MEL/NV and keratosis confusions that are also hard for dermatologists.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CNNs focus on compact lesion regions; Swin spreads attention over wider context. Failures often correspond to evidence on hair, ruler marks or borders.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beyond 'which is best': cost, interpretability and generalisation each tell a different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recommendation and the reproducibility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2A49"/>
                </a:solidFill>
              </a:defRPr>
            </a:pPr>
            <a:r>
              <a:t>CNNs vs Vision Transformers for Skin-Lesion Classification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A controlled comparison of ResNet-50, EfficientNet-B0 and Swin-T on ISIC 2019</a:t>
            </a:r>
          </a:p>
          <a:p>
            <a:br/>
            <a:pPr>
              <a:defRPr sz="1800"/>
            </a:pPr>
            <a:r>
              <a:t>José Alberto Martínez Navarro  ·  Aprendizaje Profundo  ·  Final project,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Problem and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Dermoscopic classification of 8 skin-lesion diagnoses (melanoma, nevus, BCC, AK, BKL, DF, vascular, SCC)</a:t>
            </a:r>
          </a:p>
          <a:p>
            <a:pPr>
              <a:spcAft>
                <a:spcPts val="600"/>
              </a:spcAft>
              <a:defRPr sz="1800"/>
            </a:pPr>
            <a:r>
              <a:t>• Practical question: CNN or Transformer for a clinical prototype, and at what computational price?</a:t>
            </a:r>
          </a:p>
          <a:p>
            <a:pPr>
              <a:spcAft>
                <a:spcPts val="600"/>
              </a:spcAft>
              <a:defRPr sz="1800"/>
            </a:pPr>
            <a:r>
              <a:t>• Published ISIC results are hard to compare: different splits, resolutions, ensembles, metadata</a:t>
            </a:r>
          </a:p>
          <a:p>
            <a:pPr>
              <a:spcAft>
                <a:spcPts val="600"/>
              </a:spcAft>
              <a:defRPr sz="1800"/>
            </a:pPr>
            <a:r>
              <a:t>• Objective: hold everything fixed and compare ResNet-50, EfficientNet-B0 and Swin-T on</a:t>
            </a:r>
          </a:p>
          <a:p>
            <a:pPr lvl="1">
              <a:spcAft>
                <a:spcPts val="600"/>
              </a:spcAft>
              <a:defRPr sz="1500"/>
            </a:pPr>
            <a:r>
              <a:t>– accuracy, balanced accuracy, macro-F1, AUC, per-class F1</a:t>
            </a:r>
          </a:p>
          <a:p>
            <a:pPr lvl="1">
              <a:spcAft>
                <a:spcPts val="600"/>
              </a:spcAft>
              <a:defRPr sz="1500"/>
            </a:pPr>
            <a:r>
              <a:t>– parameters, FLOPs, VRAM, training time, convergence, inference latency</a:t>
            </a:r>
          </a:p>
          <a:p>
            <a:pPr lvl="1">
              <a:spcAft>
                <a:spcPts val="600"/>
              </a:spcAft>
              <a:defRPr sz="1500"/>
            </a:pPr>
            <a:r>
              <a:t>– Grad-CAM evidence maps and a soft-voting ensemble (creativity)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Dataset: ISIC 2019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25,331 dermoscopic images · 8 classes · strong imbalance (NV ≈ 50 %)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Lesion-grouped, class-stratified split: 17,727 train / 3,844 val / 3,760 test</a:t>
            </a:r>
          </a:p>
          <a:p>
            <a:pPr>
              <a:spcAft>
                <a:spcPts val="600"/>
              </a:spcAft>
              <a:defRPr sz="1600"/>
            </a:pPr>
            <a:r>
              <a:t>• Same lesion never appears in two splits (lesion_id metadata) → no leakage</a:t>
            </a:r>
          </a:p>
          <a:p>
            <a:pPr>
              <a:spcAft>
                <a:spcPts val="600"/>
              </a:spcAft>
              <a:defRPr sz="1600"/>
            </a:pPr>
            <a:r>
              <a:t>• Pre-resize to 256 px, train on random 224 crops + flips, rotation, colour jitter</a:t>
            </a:r>
          </a:p>
          <a:p>
            <a:pPr>
              <a:spcAft>
                <a:spcPts val="600"/>
              </a:spcAft>
              <a:defRPr sz="1600"/>
            </a:pPr>
            <a:r>
              <a:t>• Eval on centre 224 crop; ImageNet normalisation</a:t>
            </a:r>
          </a:p>
        </p:txBody>
      </p:sp>
      <p:pic>
        <p:nvPicPr>
          <p:cNvPr id="5" name="Picture 4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6035040" cy="25864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Models and shared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ResNet-50 (CNN, 23.5 M params)  ·  EfficientNet-B0 (efficient CNN, 4.0 M)  ·  Swin-T (hierarchical Transformer, 27.5 M)</a:t>
            </a:r>
          </a:p>
          <a:p>
            <a:pPr>
              <a:spcAft>
                <a:spcPts val="600"/>
              </a:spcAft>
              <a:defRPr sz="1700"/>
            </a:pPr>
            <a:r>
              <a:t>• All ImageNet-1k pretrained (timm), new 8-way head, full fine-tuning</a:t>
            </a:r>
          </a:p>
          <a:p>
            <a:pPr>
              <a:spcAft>
                <a:spcPts val="600"/>
              </a:spcAft>
              <a:defRPr sz="1700"/>
            </a:pPr>
            <a:r>
              <a:t>• Identical recipe: batch 32 · AdamW lr 1e-4, wd 0.05 · 1 warm-up + cosine · ≤12 epochs, early stop on val macro-F1</a:t>
            </a:r>
          </a:p>
          <a:p>
            <a:pPr>
              <a:spcAft>
                <a:spcPts val="600"/>
              </a:spcAft>
              <a:defRPr sz="1700"/>
            </a:pPr>
            <a:r>
              <a:t>• Class-weighted cross-entropy (inverse √frequency) + label smoothing 0.1 · AMP fp16 · seed 42</a:t>
            </a:r>
          </a:p>
          <a:p>
            <a:pPr>
              <a:spcAft>
                <a:spcPts val="600"/>
              </a:spcAft>
              <a:defRPr sz="1700"/>
            </a:pPr>
            <a:r>
              <a:t>• Single RTX 4070 Laptop GPU (8 GB) · best-val checkpoint evaluated once on test</a:t>
            </a:r>
          </a:p>
          <a:p>
            <a:pPr>
              <a:spcAft>
                <a:spcPts val="600"/>
              </a:spcAft>
              <a:defRPr sz="1700"/>
            </a:pPr>
            <a:r>
              <a:t>• Swin-T chosen over ViT-B so that cost is comparable to ResNet-50 (fair comparison)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Results on the test split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Accuracy and cost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65"/>
                <a:gridCol w="102247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Bal.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Params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GFLOPs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Latency b1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Train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VRAM (MB)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Ep. to 95 %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EfficientNet-B0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Swin-T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8.98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71.2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Ensemble (soft voting)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17.92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137.1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Best single model: Swin-T (64.1 % macro-F1)</a:t>
            </a:r>
          </a:p>
          <a:p>
            <a:pPr>
              <a:spcAft>
                <a:spcPts val="600"/>
              </a:spcAft>
              <a:defRPr sz="1800"/>
            </a:pPr>
            <a:r>
              <a:t>• Ensemble of 3: 66.5 % macro-F1, AUC 0.942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Convergence under the same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1866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0972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ResNet-50: best epoch 12, 95 % of best F1 at epoch 6, 85 s/epoch</a:t>
            </a:r>
          </a:p>
          <a:p>
            <a:pPr>
              <a:spcAft>
                <a:spcPts val="600"/>
              </a:spcAft>
              <a:defRPr sz="1500"/>
            </a:pPr>
            <a:r>
              <a:t>• EfficientNet-B0: best epoch 8, 95 % of best F1 at epoch 5, 61 s/epoch</a:t>
            </a:r>
          </a:p>
          <a:p>
            <a:pPr>
              <a:spcAft>
                <a:spcPts val="600"/>
              </a:spcAft>
              <a:defRPr sz="1500"/>
            </a:pPr>
            <a:r>
              <a:t>• Swin-T: best epoch 8, 95 % of best F1 at epoch 6, 105 s/epoch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Accuracy vs computational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cc_vs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498079" cy="2999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6459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x-axis: parameters / batch-1 fp16 latency; y-axis: test macro-F1</a:t>
            </a:r>
          </a:p>
          <a:p>
            <a:pPr>
              <a:spcAft>
                <a:spcPts val="600"/>
              </a:spcAft>
              <a:defRPr sz="1500"/>
            </a:pPr>
            <a:r>
              <a:t>• Top-left is the sweet spot (accurate and cheap)</a:t>
            </a:r>
          </a:p>
          <a:p>
            <a:pPr>
              <a:spcAft>
                <a:spcPts val="600"/>
              </a:spcAft>
              <a:defRPr sz="1500"/>
            </a:pPr>
            <a:r>
              <a:t>• Cost gap between models is much larger than the accuracy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Where the models differ: per-class F1 and confusions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2556256"/>
          </a:xfrm>
          <a:prstGeom prst="rect">
            <a:avLst/>
          </a:prstGeom>
        </p:spPr>
      </p:pic>
      <p:pic>
        <p:nvPicPr>
          <p:cNvPr id="5" name="Picture 4" descr="cm_swin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482938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Rare classes (DF, VASC, SCC) and MEL↔NV, AK↔BKL↔SCC confusions drive the macro-F1</a:t>
            </a:r>
          </a:p>
          <a:p>
            <a:pPr>
              <a:spcAft>
                <a:spcPts val="600"/>
              </a:spcAft>
              <a:defRPr sz="1400"/>
            </a:pPr>
            <a:r>
              <a:t>• Right: confusion matrix of Swin-T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Interpretability: Grad-CAM (target = true class)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dcam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269666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Accuracy: Swin-T is the best single backbone, but the spread across families is small</a:t>
            </a:r>
          </a:p>
          <a:p>
            <a:pPr>
              <a:spcAft>
                <a:spcPts val="600"/>
              </a:spcAft>
              <a:defRPr sz="1700"/>
            </a:pPr>
            <a:r>
              <a:t>• Cost: EfficientNet-B0 is the cheapest to train and serve; Swin-T and ResNet-50 cost similar FLOPs but differ in latency and VRAM</a:t>
            </a:r>
          </a:p>
          <a:p>
            <a:pPr>
              <a:spcAft>
                <a:spcPts val="600"/>
              </a:spcAft>
              <a:defRPr sz="1700"/>
            </a:pPr>
            <a:r>
              <a:t>• Generalisation: balanced accuracy and per-class F1 show the imbalance problem is only partly solved by loss weighting</a:t>
            </a:r>
          </a:p>
          <a:p>
            <a:pPr>
              <a:spcAft>
                <a:spcPts val="600"/>
              </a:spcAft>
              <a:defRPr sz="1700"/>
            </a:pPr>
            <a:r>
              <a:t>• Ensemble: 66.5 % macro-F1 vs 64.1 % — the families are complementary, at 3× inference cost</a:t>
            </a:r>
          </a:p>
          <a:p>
            <a:pPr>
              <a:spcAft>
                <a:spcPts val="600"/>
              </a:spcAft>
              <a:defRPr sz="1700"/>
            </a:pPr>
            <a:r>
              <a:t>• Pre-training matters more than architecture family on 25k images (consistent with Raghu et al. 2019, Matsoukas et al. 2021)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9"/>
                </a:solidFill>
              </a:defRPr>
            </a:pPr>
            <a: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47120" cy="2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Under an identical, leakage-free protocol the CNN/Transformer gap on ISIC 2019 is small; the cost gap is large</a:t>
            </a:r>
          </a:p>
          <a:p>
            <a:pPr>
              <a:spcAft>
                <a:spcPts val="600"/>
              </a:spcAft>
              <a:defRPr sz="1800"/>
            </a:pPr>
            <a:r>
              <a:t>• Recommendation: EfficientNet-B0 for edge/latency budgets, Swin-T or ResNet-50 when VRAM/latency allow, ensemble when accuracy is paramount</a:t>
            </a:r>
          </a:p>
          <a:p>
            <a:pPr>
              <a:spcAft>
                <a:spcPts val="600"/>
              </a:spcAft>
              <a:defRPr sz="1800"/>
            </a:pPr>
            <a:r>
              <a:t>• Future work: higher resolution and multi-resolution ensembles (Gessert et al.), patient metadata, self-supervised pre-training on dermoscopy (DINO/MAE), test-time augmentation, calibration and external validation (official ISIC test set, PAD-UFES-20)</a:t>
            </a:r>
          </a:p>
          <a:p>
            <a:pPr>
              <a:spcAft>
                <a:spcPts val="600"/>
              </a:spcAft>
              <a:defRPr sz="1800"/>
            </a:pPr>
            <a:r>
              <a:t>• Everything is reproducible: run_all.ps1 regenerates every number and figure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