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Hello. My project compares three ImageNet-pretrained backbones on the ISIC 2019 dermoscopy dataset under one identical protocol, and looks at cost and interpretability, not only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motivation is practical: a deployment decision depends on cost as much as on accuracy, and the literature rarely reports both under the same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ISIC 2019 merges HAM10000, BCN20000 and MSK. I split by lesion id so that repeated images of the same lesion cannot leak from train to test, which inflates scores in many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that is not the architecture is identical, so differences can be attributed to the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from left to right: the accuracy columns are close, the cost columns are not. Point out the AUC inversion.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converge within the 12-epoch budget thanks to ImageNet pre-training; note which one gets there first and how the validation loss behaves.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figure I would show to an engineering manager: the choice is a budget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Macro-F1 is dominated by the rare classes; class weighting helps but does not remove the MEL/NV and keratosis confusions that are also hard for dermatologists.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CNNs focus on compact lesion regions; Swin spreads attention over wider context. Failures often correspond to evidence on hair, ruler marks or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beyond 'which is best': cost, interpretability and generalisation each tell a different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recommendation and the reproducibility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on screen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2B134"/>
                </a:solidFill>
                <a:latin typeface="Calibri"/>
              </a:rPr>
              <a:t>FINAL PROJECT  ·  APRENDIZAJE PROFUNDO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2377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CNNs vs Vision Transformers</a:t>
            </a:r>
          </a:p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for Skin-Lesion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713232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FD7EA"/>
                </a:solidFill>
                <a:latin typeface="Calibri"/>
              </a:rPr>
              <a:t>A controlled comparison of ResNet-50, EfficientNet-B0 and Swin-T on ISIC 2019: accuracy, computational cost and interpretability under one identical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71323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Alberto Martínez Navarro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7132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FD7EA"/>
                </a:solidFill>
                <a:latin typeface="Calibri"/>
              </a:rPr>
              <a:t>Aprendizaje Profundo  ·  October 2026</a:t>
            </a:r>
          </a:p>
        </p:txBody>
      </p:sp>
      <p:pic>
        <p:nvPicPr>
          <p:cNvPr id="10" name="Picture 9" descr="ISIC_00608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188720"/>
            <a:ext cx="1261872" cy="12618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0" y="2157984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148839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MEL</a:t>
            </a:r>
          </a:p>
        </p:txBody>
      </p:sp>
      <p:pic>
        <p:nvPicPr>
          <p:cNvPr id="13" name="Picture 12" descr="ISIC_00312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76" y="1188720"/>
            <a:ext cx="1261872" cy="126187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094976" y="2157984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4976" y="2148839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NV</a:t>
            </a:r>
          </a:p>
        </p:txBody>
      </p:sp>
      <p:pic>
        <p:nvPicPr>
          <p:cNvPr id="16" name="Picture 15" descr="ISIC_00700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596896"/>
            <a:ext cx="1261872" cy="126187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686800" y="3566160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3557015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BCC</a:t>
            </a:r>
          </a:p>
        </p:txBody>
      </p:sp>
      <p:pic>
        <p:nvPicPr>
          <p:cNvPr id="19" name="Picture 18" descr="ISIC_006287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76" y="2596896"/>
            <a:ext cx="1261872" cy="12618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094976" y="3566160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4976" y="3557015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pic>
        <p:nvPicPr>
          <p:cNvPr id="22" name="Picture 21" descr="ISIC_007237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4005072"/>
            <a:ext cx="1261872" cy="12618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686800" y="4974336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4965192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BKL</a:t>
            </a:r>
          </a:p>
        </p:txBody>
      </p:sp>
      <p:pic>
        <p:nvPicPr>
          <p:cNvPr id="25" name="Picture 24" descr="ISIC_00636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4005072"/>
            <a:ext cx="1261872" cy="126187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0094976" y="4974336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4976" y="4965192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DF</a:t>
            </a:r>
          </a:p>
        </p:txBody>
      </p:sp>
      <p:pic>
        <p:nvPicPr>
          <p:cNvPr id="28" name="Picture 27" descr="ISIC_002562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0" y="5413247"/>
            <a:ext cx="1261872" cy="126187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686800" y="6382511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6373367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VASC</a:t>
            </a:r>
          </a:p>
        </p:txBody>
      </p:sp>
      <p:pic>
        <p:nvPicPr>
          <p:cNvPr id="31" name="Picture 30" descr="ISIC_002452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4976" y="5413247"/>
            <a:ext cx="1261872" cy="126187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0094976" y="6382511"/>
            <a:ext cx="1261872" cy="292608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4976" y="6373367"/>
            <a:ext cx="1261872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SCC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9640" y="502920"/>
            <a:ext cx="1097280" cy="457200"/>
          </a:xfrm>
          <a:prstGeom prst="roundRect">
            <a:avLst/>
          </a:prstGeom>
          <a:solidFill>
            <a:srgbClr val="142440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502920"/>
            <a:ext cx="109728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25,331</a:t>
            </a:r>
          </a:p>
          <a:p>
            <a:pPr algn="ctr">
              <a:spcAft>
                <a:spcPts val="400"/>
              </a:spcAft>
            </a:pPr>
            <a:r>
              <a:rPr sz="800" b="0">
                <a:solidFill>
                  <a:srgbClr val="17A398"/>
                </a:solidFill>
                <a:latin typeface="Calibri"/>
              </a:rPr>
              <a:t>images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502920"/>
            <a:ext cx="1097280" cy="457200"/>
          </a:xfrm>
          <a:prstGeom prst="roundRect">
            <a:avLst/>
          </a:prstGeom>
          <a:solidFill>
            <a:srgbClr val="142440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02920"/>
            <a:ext cx="109728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800" b="0">
                <a:solidFill>
                  <a:srgbClr val="17A398"/>
                </a:solidFill>
                <a:latin typeface="Calibri"/>
              </a:rPr>
              <a:t>classes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27080" y="502920"/>
            <a:ext cx="1097280" cy="457200"/>
          </a:xfrm>
          <a:prstGeom prst="roundRect">
            <a:avLst/>
          </a:prstGeom>
          <a:solidFill>
            <a:srgbClr val="142440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27080" y="502920"/>
            <a:ext cx="109728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 + ensemble</a:t>
            </a:r>
          </a:p>
          <a:p>
            <a:pPr algn="ctr">
              <a:spcAft>
                <a:spcPts val="400"/>
              </a:spcAft>
            </a:pPr>
            <a:r>
              <a:rPr sz="800" b="0">
                <a:solidFill>
                  <a:srgbClr val="17A398"/>
                </a:solidFill>
                <a:latin typeface="Calibri"/>
              </a:rPr>
              <a:t>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Problem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Why another comparison, and what is different about this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35024"/>
            <a:ext cx="52669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A398"/>
                </a:solidFill>
                <a:latin typeface="Calibri"/>
              </a:rPr>
              <a:t>Clinical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627631"/>
            <a:ext cx="5266944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libri"/>
              </a:rPr>
              <a:t>Classify a dermoscopic image into 8 diagnoses: melanoma, nevus, basal cell carcinoma, actinic keratosis, benign keratosis, dermatofibroma, vascular lesion, squamous cell carcinoma.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52669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4572E"/>
                </a:solidFill>
                <a:latin typeface="Calibri"/>
              </a:rPr>
              <a:t>Practical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82112"/>
            <a:ext cx="5266944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libri"/>
              </a:rPr>
              <a:t>CNN or Transformer for a clinical prototype, and at what price in latency, memory and training time?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8912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B1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43983"/>
            <a:ext cx="52669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B134"/>
                </a:solidFill>
                <a:latin typeface="Calibri"/>
              </a:rPr>
              <a:t>Gap in the literature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36592"/>
            <a:ext cx="5266944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libri"/>
              </a:rPr>
              <a:t>Published ISIC results use different splits, resolutions, ensembles and metadata, so they cannot be compared; cost is rarely reported.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280160"/>
            <a:ext cx="5440680" cy="4526280"/>
          </a:xfrm>
          <a:prstGeom prst="round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417320"/>
            <a:ext cx="5029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2B134"/>
                </a:solidFill>
                <a:latin typeface="Calibri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783080"/>
            <a:ext cx="50292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Hold everything fixed and compare ResNet-50, EfficientNet-B0 and Swin-T 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743200"/>
            <a:ext cx="50292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E4572E"/>
                </a:solidFill>
              </a:rPr>
              <a:t>▪ </a:t>
            </a:r>
            <a:r>
              <a:rPr sz="1500">
                <a:solidFill>
                  <a:srgbClr val="FFFFFF"/>
                </a:solidFill>
                <a:latin typeface="Calibri"/>
              </a:rPr>
              <a:t>Accuracy, balanced accuracy, macro-F1, AUC, per-class F1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E4572E"/>
                </a:solidFill>
              </a:rPr>
              <a:t>▪ </a:t>
            </a:r>
            <a:r>
              <a:rPr sz="1500">
                <a:solidFill>
                  <a:srgbClr val="FFFFFF"/>
                </a:solidFill>
                <a:latin typeface="Calibri"/>
              </a:rPr>
              <a:t>Parameters, FLOPs, VRAM, training time, epochs to converge, latency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E4572E"/>
                </a:solidFill>
              </a:rPr>
              <a:t>▪ </a:t>
            </a:r>
            <a:r>
              <a:rPr sz="1500">
                <a:solidFill>
                  <a:srgbClr val="FFFFFF"/>
                </a:solidFill>
                <a:latin typeface="Calibri"/>
              </a:rPr>
              <a:t>Grad-CAM evidence maps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E4572E"/>
                </a:solidFill>
              </a:rPr>
              <a:t>▪ </a:t>
            </a:r>
            <a:r>
              <a:rPr sz="1500">
                <a:solidFill>
                  <a:srgbClr val="FFFFFF"/>
                </a:solidFill>
                <a:latin typeface="Calibri"/>
              </a:rPr>
              <a:t>A soft-voting ensemble: are the families complementary?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Dataset: ISIC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25,331 dermoscopic images · 8 classes · strong imbalance (NV ≈ 50 %)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035040" cy="258644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069080"/>
            <a:ext cx="1920240" cy="105156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82296" cy="105156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42232"/>
            <a:ext cx="16916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453128"/>
            <a:ext cx="1691640" cy="59435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42440"/>
                </a:solidFill>
                <a:latin typeface="Calibri"/>
              </a:rPr>
              <a:t>17,727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069080"/>
            <a:ext cx="1920240" cy="105156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4600" y="4069080"/>
            <a:ext cx="82296" cy="105156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4142232"/>
            <a:ext cx="16916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453128"/>
            <a:ext cx="1691640" cy="59435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42440"/>
                </a:solidFill>
                <a:latin typeface="Calibri"/>
              </a:rPr>
              <a:t>3,844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069080"/>
            <a:ext cx="1920240" cy="105156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0" y="4069080"/>
            <a:ext cx="82296" cy="105156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4142232"/>
            <a:ext cx="16916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453128"/>
            <a:ext cx="1691640" cy="59435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42440"/>
                </a:solidFill>
                <a:latin typeface="Calibri"/>
              </a:rPr>
              <a:t>3,760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57800"/>
            <a:ext cx="60350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312664"/>
            <a:ext cx="5815583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7A398"/>
                </a:solidFill>
                <a:latin typeface="Calibri"/>
              </a:rPr>
              <a:t>No leakage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605272"/>
            <a:ext cx="5815583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Split stratified by class and grouped by lesion_id: the same lesion never appears in two splits (checked by an assertion in prepare_data.py).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234440"/>
            <a:ext cx="493776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One test image per class</a:t>
            </a:r>
          </a:p>
        </p:txBody>
      </p:sp>
      <p:pic>
        <p:nvPicPr>
          <p:cNvPr id="26" name="Picture 25" descr="ISIC_00608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00200"/>
            <a:ext cx="1115568" cy="11155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8000" y="2715768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MEL</a:t>
            </a:r>
          </a:p>
        </p:txBody>
      </p:sp>
      <p:pic>
        <p:nvPicPr>
          <p:cNvPr id="28" name="Picture 27" descr="ISIC_00312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600200"/>
            <a:ext cx="1115568" cy="11155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083296" y="2715768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NV</a:t>
            </a:r>
          </a:p>
        </p:txBody>
      </p:sp>
      <p:pic>
        <p:nvPicPr>
          <p:cNvPr id="30" name="Picture 29" descr="ISIC_00700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1600200"/>
            <a:ext cx="1115568" cy="11155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308592" y="2715768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BCC</a:t>
            </a:r>
          </a:p>
        </p:txBody>
      </p:sp>
      <p:pic>
        <p:nvPicPr>
          <p:cNvPr id="32" name="Picture 31" descr="ISIC_006287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8" y="1600200"/>
            <a:ext cx="1115568" cy="1115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533888" y="2715768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AK</a:t>
            </a:r>
          </a:p>
        </p:txBody>
      </p:sp>
      <p:pic>
        <p:nvPicPr>
          <p:cNvPr id="34" name="Picture 33" descr="ISIC_007237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3099815"/>
            <a:ext cx="1115568" cy="111556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58000" y="4215383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BKL</a:t>
            </a:r>
          </a:p>
        </p:txBody>
      </p:sp>
      <p:pic>
        <p:nvPicPr>
          <p:cNvPr id="36" name="Picture 35" descr="ISIC_006360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3296" y="3099815"/>
            <a:ext cx="1115568" cy="11155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83296" y="4215383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DF</a:t>
            </a:r>
          </a:p>
        </p:txBody>
      </p:sp>
      <p:pic>
        <p:nvPicPr>
          <p:cNvPr id="38" name="Picture 37" descr="ISIC_002562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8592" y="3099815"/>
            <a:ext cx="1115568" cy="111556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308592" y="4215383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VASC</a:t>
            </a:r>
          </a:p>
        </p:txBody>
      </p:sp>
      <p:pic>
        <p:nvPicPr>
          <p:cNvPr id="40" name="Picture 39" descr="ISIC_002452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8" y="3099815"/>
            <a:ext cx="1115568" cy="11155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533888" y="4215383"/>
            <a:ext cx="1115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2440"/>
                </a:solidFill>
                <a:latin typeface="Calibri"/>
              </a:rPr>
              <a:t>SCC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4526280"/>
            <a:ext cx="4937760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222833"/>
                </a:solidFill>
                <a:latin typeface="Calibri"/>
              </a:rPr>
              <a:t>Pre-resize to 256 px once (442 MB cache instead of 9 GB)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222833"/>
                </a:solidFill>
                <a:latin typeface="Calibri"/>
              </a:rPr>
              <a:t>Train: random 224 crops, flips, rotation ±20°, colour jitter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222833"/>
                </a:solidFill>
                <a:latin typeface="Calibri"/>
              </a:rPr>
              <a:t>Eval: centre 224 crop · ImageNet normalisation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Three backbones,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Everything that is not the architecture is identical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3611880" cy="2514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611880" cy="502920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342900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ResNet-50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338328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Residual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33832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Reference backbone: skip connections, 4 stages, global pooling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23.5 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parameters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8.17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GFLOPs / 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280160"/>
            <a:ext cx="3611880" cy="2514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51960" y="1280160"/>
            <a:ext cx="3611880" cy="502920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298448"/>
            <a:ext cx="342900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874519"/>
            <a:ext cx="338328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A02C"/>
                </a:solidFill>
                <a:latin typeface="Calibri"/>
              </a:rPr>
              <a:t>Efficient CNN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194560"/>
            <a:ext cx="33832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Compound-scaled, depthwise-separable convolutions, mobile-oriented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4.0 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0.77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GFLOPs / image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1280160"/>
            <a:ext cx="3611880" cy="2514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0" y="1280160"/>
            <a:ext cx="3611880" cy="502920"/>
          </a:xfrm>
          <a:prstGeom prst="round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298448"/>
            <a:ext cx="342900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Swin-T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1874519"/>
            <a:ext cx="338328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62728"/>
                </a:solidFill>
                <a:latin typeface="Calibri"/>
              </a:rPr>
              <a:t>Hierarchical Transformer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2194560"/>
            <a:ext cx="33832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Shifted-window self-attention with a feature pyramid; cost ≈ ResNet-50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27.5 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parameters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71800"/>
            <a:ext cx="16459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42440"/>
                </a:solidFill>
                <a:latin typeface="Calibri"/>
              </a:rPr>
              <a:t>8.98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GFLOPs / image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023360"/>
            <a:ext cx="109728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7480"/>
                </a:solidFill>
                <a:latin typeface="Calibri"/>
              </a:rPr>
              <a:t>SHARED FINE-TUNING PROTOCOL</a:t>
            </a:r>
          </a:p>
        </p:txBody>
      </p:sp>
      <p:sp>
        <p:nvSpPr>
          <p:cNvPr id="31" name="Pentagon 30"/>
          <p:cNvSpPr/>
          <p:nvPr/>
        </p:nvSpPr>
        <p:spPr>
          <a:xfrm>
            <a:off x="457200" y="4389120"/>
            <a:ext cx="1783080" cy="1417320"/>
          </a:xfrm>
          <a:prstGeom prst="homePlate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ImageNet-1k weights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timm · new 8-way head · full fine-tuning</a:t>
            </a:r>
          </a:p>
        </p:txBody>
      </p:sp>
      <p:sp>
        <p:nvSpPr>
          <p:cNvPr id="34" name="Chevron 33"/>
          <p:cNvSpPr/>
          <p:nvPr/>
        </p:nvSpPr>
        <p:spPr>
          <a:xfrm>
            <a:off x="2350008" y="4389120"/>
            <a:ext cx="1783080" cy="141732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51176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AdamW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51176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lr 1e-4 · wd 0.05 · batch 32</a:t>
            </a:r>
          </a:p>
        </p:txBody>
      </p:sp>
      <p:sp>
        <p:nvSpPr>
          <p:cNvPr id="37" name="Chevron 36"/>
          <p:cNvSpPr/>
          <p:nvPr/>
        </p:nvSpPr>
        <p:spPr>
          <a:xfrm>
            <a:off x="4242816" y="4389120"/>
            <a:ext cx="1783080" cy="1417320"/>
          </a:xfrm>
          <a:prstGeom prst="chevron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3983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Schedule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 warm-up epoch + cosine · ≤ 12 epochs</a:t>
            </a:r>
          </a:p>
        </p:txBody>
      </p:sp>
      <p:sp>
        <p:nvSpPr>
          <p:cNvPr id="40" name="Chevron 39"/>
          <p:cNvSpPr/>
          <p:nvPr/>
        </p:nvSpPr>
        <p:spPr>
          <a:xfrm>
            <a:off x="6135623" y="4389120"/>
            <a:ext cx="1783080" cy="141732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36791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Loss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1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CE weighted 1/√freq · label smoothing 0.1</a:t>
            </a:r>
          </a:p>
        </p:txBody>
      </p:sp>
      <p:sp>
        <p:nvSpPr>
          <p:cNvPr id="43" name="Chevron 42"/>
          <p:cNvSpPr/>
          <p:nvPr/>
        </p:nvSpPr>
        <p:spPr>
          <a:xfrm>
            <a:off x="8028431" y="4389120"/>
            <a:ext cx="1783080" cy="1417320"/>
          </a:xfrm>
          <a:prstGeom prst="chevron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Early stopping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patience 4 on validation macro-F1</a:t>
            </a:r>
          </a:p>
        </p:txBody>
      </p:sp>
      <p:sp>
        <p:nvSpPr>
          <p:cNvPr id="46" name="Chevron 45"/>
          <p:cNvSpPr/>
          <p:nvPr/>
        </p:nvSpPr>
        <p:spPr>
          <a:xfrm>
            <a:off x="9921240" y="4389120"/>
            <a:ext cx="1783080" cy="141732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22408" y="4480560"/>
            <a:ext cx="13258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Hardware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22408" y="4846320"/>
            <a:ext cx="13258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RTX 4070 Laptop 8 GB · AMP fp16 · seed 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480"/>
                </a:solidFill>
                <a:latin typeface="Calibri"/>
              </a:rPr>
              <a:t>Best-validation checkpoint evaluated once on the test split. Swin-T was chosen over ViT-B so that its cost matches ResNet-50.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Results on the test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Accuracy and cost side by side · best value per column highlighted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7143"/>
                <a:gridCol w="917143"/>
                <a:gridCol w="917143"/>
                <a:gridCol w="917143"/>
                <a:gridCol w="917143"/>
                <a:gridCol w="917143"/>
                <a:gridCol w="917143"/>
                <a:gridCol w="917143"/>
                <a:gridCol w="917143"/>
                <a:gridCol w="917143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Bal. acc.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Params (M)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GFLOPs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Latency b1 (ms)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(min)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VRAM (MB)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Ep. to 95 %</a:t>
                      </a:r>
                    </a:p>
                  </a:txBody>
                  <a:tcPr>
                    <a:solidFill>
                      <a:srgbClr val="14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F77B4"/>
                          </a:solidFill>
                        </a:defRPr>
                      </a:pPr>
                      <a:r>
                        <a:t>ResNet-50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0.711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0.601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0.551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0.918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23.5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8.17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29.1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1807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A02C"/>
                          </a:solidFill>
                        </a:defRPr>
                      </a:pPr>
                      <a:r>
                        <a:t>EfficientNet-B0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0.738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36.9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1500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D62728"/>
                          </a:solidFill>
                        </a:defRPr>
                      </a:pPr>
                      <a:r>
                        <a:t>Swin-T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0.761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0.639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0.641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0.900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27.5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8.98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71.2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2667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6B7480"/>
                          </a:solidFill>
                        </a:defRPr>
                      </a:pPr>
                      <a:r>
                        <a:t>Ensemble (soft voting)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0.778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0.665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572E"/>
                          </a:solidFill>
                        </a:defRPr>
                      </a:pPr>
                      <a:r>
                        <a:t>0.942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55.1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17.92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137.1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833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3749039"/>
            <a:ext cx="2697480" cy="12344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749039"/>
            <a:ext cx="82296" cy="123444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822191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BEST SINGLE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33087"/>
            <a:ext cx="24688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2440"/>
                </a:solidFill>
                <a:latin typeface="Calibri"/>
              </a:rPr>
              <a:t>Swin-T
64.1 % macro-F1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749039"/>
            <a:ext cx="2697480" cy="12344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3749039"/>
            <a:ext cx="82296" cy="1234440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3822191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ENSEMBLE OF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133087"/>
            <a:ext cx="24688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2440"/>
                </a:solidFill>
                <a:latin typeface="Calibri"/>
              </a:rPr>
              <a:t>66.5 % macro-F1
AUC 0.942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49039"/>
            <a:ext cx="2697480" cy="12344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749039"/>
            <a:ext cx="82296" cy="123444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2191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COST OF THE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133087"/>
            <a:ext cx="24688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440"/>
                </a:solidFill>
                <a:latin typeface="Calibri"/>
              </a:rPr>
              <a:t>2.4× latency · 1.5× VRAM
vs ResNet-50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749039"/>
            <a:ext cx="2770632" cy="12344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3749039"/>
            <a:ext cx="82296" cy="123444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3822191"/>
            <a:ext cx="2542032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CHEAPEST TO 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133087"/>
            <a:ext cx="2542032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2440"/>
                </a:solidFill>
                <a:latin typeface="Calibri"/>
              </a:rPr>
              <a:t>EfficientNet-B0
14 min · 1.5 GB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60"/>
            <a:ext cx="1127455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221224"/>
            <a:ext cx="11055096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Read the table in two halves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513832"/>
            <a:ext cx="11055096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Decision metrics (accuracy, balanced accuracy, macro-F1) rank Swin-T &gt; EfficientNet-B0 &gt; ResNet-50. AUC ranks them the other way round (0.918 &gt; 0.906 &gt; 0.900): Swin-T fits the training set harder and gives sharper posteriors — better hard decisions, slightly worse probability ranking. A triage tool should be calibrated.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Convergence under the same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Validation curves per epoch · dashed = training loss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4552" cy="31944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617720"/>
            <a:ext cx="3611880" cy="11430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17720"/>
            <a:ext cx="82296" cy="11430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69087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RESNET-50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01768"/>
            <a:ext cx="338328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best epoch 12 · 95 % of best at epoch 6
85 s / epoch · 20 min total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617720"/>
            <a:ext cx="3611880" cy="11430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4617720"/>
            <a:ext cx="82296" cy="11430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69087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EFFICIENTNET-B0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001768"/>
            <a:ext cx="338328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best epoch 8 · 95 % of best at epoch 5
61 s / epoch · 14 min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617720"/>
            <a:ext cx="3611880" cy="11430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4617720"/>
            <a:ext cx="82296" cy="114300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69087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SWIN-T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5001768"/>
            <a:ext cx="338328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best epoch 8 · 95 % of best at epoch 6
105 s / epoch · 23 min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libri"/>
              </a:rPr>
              <a:t>Swin-T is already at 0.60 macro-F1 after 2 epochs; the CNNs need 5–6. Training loss keeps falling while validation loss flattens: incipient over-fitting kept in check by early stopping.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Accuracy vs computational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FLOPs are not latency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acc_vs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315200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280160"/>
            <a:ext cx="3657600" cy="11887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82296" cy="11887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353312"/>
            <a:ext cx="3429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EFFICIENTNET-B0 vs RESNET-50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64207"/>
            <a:ext cx="34290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440"/>
                </a:solidFill>
                <a:latin typeface="Calibri"/>
              </a:rPr>
              <a:t>11× fewer FLOPs, yet 37 ms vs 29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606040"/>
            <a:ext cx="3657600" cy="11887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606040"/>
            <a:ext cx="82296" cy="118872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679192"/>
            <a:ext cx="3429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SWIN-T vs RESNET-50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990088"/>
            <a:ext cx="34290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440"/>
                </a:solidFill>
                <a:latin typeface="Calibri"/>
              </a:rPr>
              <a:t>same FLOPs, 2.4× latency, 1.5× training VRAM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931920"/>
            <a:ext cx="3657600" cy="11887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3931920"/>
            <a:ext cx="82296" cy="11887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005072"/>
            <a:ext cx="3429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THROUGHPUT (batch 32, fp16)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315968"/>
            <a:ext cx="34290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440"/>
                </a:solidFill>
                <a:latin typeface="Calibri"/>
              </a:rPr>
              <a:t>ResNet 724 · Swin 554 · EffNet 511 img/s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46320"/>
            <a:ext cx="1127455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901183"/>
            <a:ext cx="11055096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4572E"/>
                </a:solidFill>
                <a:latin typeface="Calibri"/>
              </a:rPr>
              <a:t>Why the cheapest model by FLOPs is not the fastest on a 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93792"/>
            <a:ext cx="11055096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Depthwise-separable convolutions are memory-bound and launch many small kernels that cannot use tensor cores; EfficientNet's savings appear on CPUs and mobile NPUs, the hardware it was designed for. Deployment decisions must use latency measured on the target device, not parameter 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the models differ: per-class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Macro-F1 is driven by the rare and overlapping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2625344"/>
          </a:xfrm>
          <a:prstGeom prst="rect">
            <a:avLst/>
          </a:prstGeom>
        </p:spPr>
      </p:pic>
      <p:pic>
        <p:nvPicPr>
          <p:cNvPr id="10" name="Picture 9" descr="cm_swin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88720"/>
            <a:ext cx="4304452" cy="37490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4023360"/>
            <a:ext cx="33375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078224"/>
            <a:ext cx="311810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7A398"/>
                </a:solidFill>
                <a:latin typeface="Calibri"/>
              </a:rPr>
              <a:t>Strong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70832"/>
            <a:ext cx="3118104" cy="192023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NV (F1 0.85–0.88), BCC and VASC: frequent or visually distinctive.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4023360"/>
            <a:ext cx="34747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1648" y="4078224"/>
            <a:ext cx="3255263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4572E"/>
                </a:solidFill>
                <a:latin typeface="Calibri"/>
              </a:rPr>
              <a:t>Weak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4370832"/>
            <a:ext cx="3255263" cy="192023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AK, SCC, DF: rare and morphologically overlapping. Two persistent confusions, also hard for dermatologists: MEL↔NV and AK↔BKL↔SCC.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5074920"/>
            <a:ext cx="4114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5129783"/>
            <a:ext cx="38953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62728"/>
                </a:solidFill>
                <a:latin typeface="Calibri"/>
              </a:rPr>
              <a:t>Swin-T is the most uniform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422392"/>
            <a:ext cx="3895344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Best F1 in 7 of 8 classes; the only backbone with DF above 0.6. Class weighting lifted rare-class recall without hurting NV.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Interpretability: Grad-CAM evidence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Target = true class · one test image per class · green/red = correct/incorrect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gradcam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2605253" cy="5212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383280" y="1280160"/>
            <a:ext cx="4023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335024"/>
            <a:ext cx="380390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CNNs: compact, centred blobs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627631"/>
            <a:ext cx="3803904" cy="11430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ResNet-50 and EfficientNet-B0 fire on the pigmented core. Adequate for NV, BCC, DF, VASC; misses the periphery that separates MEL from NV.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971800"/>
            <a:ext cx="4023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3026664"/>
            <a:ext cx="380390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62728"/>
                </a:solidFill>
                <a:latin typeface="Calibri"/>
              </a:rPr>
              <a:t>Swin-T: multi-focal maps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319272"/>
            <a:ext cx="3803904" cy="11430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Follows the irregular border and the asymmetric pigment distribution — the clinical ABCD cues (two hot spots on the melanoma, a ring on the vascular lesion).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663440"/>
            <a:ext cx="40233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4718303"/>
            <a:ext cx="380390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4572E"/>
                </a:solidFill>
                <a:latin typeface="Calibri"/>
              </a:rPr>
              <a:t>Informative failures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010912"/>
            <a:ext cx="3803904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BKL: all three fire on the darkest region and predict melanoma. SCC: EfficientNet-B0 spreads evidence over hair and scale artefacts → segment the lesion or remove artefacts before deployment.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280160"/>
            <a:ext cx="4069080" cy="5074920"/>
          </a:xfrm>
          <a:prstGeom prst="round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WHAT THIS BUYS A CLINICIAN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1828800"/>
            <a:ext cx="3749039" cy="448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FFFFFF"/>
                </a:solidFill>
                <a:latin typeface="Calibri"/>
              </a:rPr>
              <a:t>A sanity check that the decision comes from the lesion, not from rulers, hair or vignetting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FFFFFF"/>
                </a:solidFill>
                <a:latin typeface="Calibri"/>
              </a:rPr>
              <a:t>A way to audit each error class: wrong region vs right region, wrong label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FFFFFF"/>
                </a:solidFill>
                <a:latin typeface="Calibri"/>
              </a:rPr>
              <a:t>Evidence that the Transformer uses lesion-wide texture, consistent with its advantage on DF and 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4572E"/>
                </a:solidFill>
              </a:rPr>
              <a:t>▪ </a:t>
            </a:r>
            <a:r>
              <a:rPr sz="1300">
                <a:solidFill>
                  <a:srgbClr val="FFFFFF"/>
                </a:solidFill>
                <a:latin typeface="Calibri"/>
              </a:rPr>
              <a:t>Required by the project brief: interpretability beyond ‘which model is best’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Are the two families complementary?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Soft-voting ensembles on the test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2697480" cy="14630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82296" cy="1463040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53312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CNN + CNN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64207"/>
            <a:ext cx="24688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440"/>
                </a:solidFill>
                <a:latin typeface="Calibri"/>
              </a:rPr>
              <a:t>61.5 % macro-F1
AUC 0.932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697480" cy="14630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80160"/>
            <a:ext cx="82296" cy="146304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353312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RESNET-50 + SWIN-T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664207"/>
            <a:ext cx="24688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440"/>
                </a:solidFill>
                <a:latin typeface="Calibri"/>
              </a:rPr>
              <a:t>64.6 % macro-F1
AUC 0.939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280160"/>
            <a:ext cx="2697480" cy="14630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280160"/>
            <a:ext cx="82296" cy="146304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53312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EFFICIENTNET-B0 + SWIN-T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664207"/>
            <a:ext cx="24688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440"/>
                </a:solidFill>
                <a:latin typeface="Calibri"/>
              </a:rPr>
              <a:t>66.4 % macro-F1
AUC 0.928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280160"/>
            <a:ext cx="2697480" cy="14630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280160"/>
            <a:ext cx="82296" cy="146304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353312"/>
            <a:ext cx="24688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B7480"/>
                </a:solidFill>
                <a:latin typeface="Calibri"/>
              </a:rPr>
              <a:t>ALL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664207"/>
            <a:ext cx="24688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440"/>
                </a:solidFill>
                <a:latin typeface="Calibri"/>
              </a:rPr>
              <a:t>66.5 % macro-F1
AUC 0.942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926080"/>
            <a:ext cx="54864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980944"/>
            <a:ext cx="52669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4572E"/>
                </a:solidFill>
                <a:latin typeface="Calibri"/>
              </a:rPr>
              <a:t>Nearly all the gain comes from CNN + Transformer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273552"/>
            <a:ext cx="5266944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The two CNNs together reach only 61.5 %; adding Swin-T to EfficientNet-B0 gives 66.4 %, almost the full ensemble (66.5 %). The families make different mistakes.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926080"/>
            <a:ext cx="54864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2980944"/>
            <a:ext cx="526694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Price of the ensemble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273552"/>
            <a:ext cx="5266944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libri"/>
              </a:rPr>
              <a:t>55 M parameters, 137 ms per image at batch 1 — fine for offline screening of a clinic's daily images, too slow for an interactive tool.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92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764024"/>
            <a:ext cx="1107338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7480"/>
                </a:solidFill>
                <a:latin typeface="Calibri"/>
              </a:rPr>
              <a:t>Context and limitations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056632"/>
            <a:ext cx="11073384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Balanced accuracies of 0.60–0.68 are in the range of single ImageNet-pretrained models at 224 px; the challenge winner reached 0.63–0.74 with multi-resolution ensembles and metadata on a harder, out-of-distribution test set. Single seed per model (differences &lt; 1 point are noise), fixed 224 px, no metadata, no test-time augmentation, no per-model learning-rate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Conclusions and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05156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FD7EA"/>
                </a:solidFill>
                <a:latin typeface="Calibri"/>
              </a:rPr>
              <a:t>Three findings, one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480"/>
                </a:solidFill>
                <a:latin typeface="Calibri"/>
              </a:rPr>
              <a:t>José Alberto Martínez Navarro  ·  Aprendizaje Profundo  ·  ISIC 2019: CNNs vs Transformers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822960" cy="29260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6B7480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34440"/>
            <a:ext cx="685800" cy="1051560"/>
          </a:xfrm>
          <a:prstGeom prst="round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685800" cy="10515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234440"/>
            <a:ext cx="58521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440"/>
                </a:solidFill>
                <a:latin typeface="Calibri"/>
              </a:rPr>
              <a:t>The Transformer wins on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81912"/>
            <a:ext cx="5852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With ImageNet pre-training Swin-T is the most accurate and most class-uniform backbone on 25k images (64.1 % macro-F1), contradicting the view that transformers need huge medical datasets.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685800" cy="1051560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685800" cy="10515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3160"/>
            <a:ext cx="58521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440"/>
                </a:solidFill>
                <a:latin typeface="Calibri"/>
              </a:rPr>
              <a:t>That accuracy has a measurable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770632"/>
            <a:ext cx="5852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2.4× the latency and 1.5× the training memory of ResNet-50; and the cheapest model by FLOPs is not the fastest on a GPU. Decide with measured latency, not parameter counts.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685800" cy="1051560"/>
          </a:xfrm>
          <a:prstGeom prst="round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685800" cy="10515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11880"/>
            <a:ext cx="58521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440"/>
                </a:solidFill>
                <a:latin typeface="Calibri"/>
              </a:rPr>
              <a:t>The families are complementary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9352"/>
            <a:ext cx="58521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CNN + Transformer soft voting gives the best macro-F1 (66.5 %) and AUC (0.942) of the study because the two families make different errors.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234440"/>
            <a:ext cx="4251960" cy="3520440"/>
          </a:xfrm>
          <a:prstGeom prst="round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1371600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B134"/>
                </a:solidFill>
                <a:latin typeface="Calibri"/>
              </a:rPr>
              <a:t>RECOMMENDATION BY BUDGET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86200" cy="8229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1828800"/>
            <a:ext cx="15544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BFD7EA"/>
                </a:solidFill>
                <a:latin typeface="Calibri"/>
              </a:rPr>
              <a:t>CPU / edge device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2402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EfficientNet-B0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17A398"/>
                </a:solidFill>
                <a:latin typeface="Calibri"/>
              </a:rPr>
              <a:t>4 M params, 1.5 GB to train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743200"/>
            <a:ext cx="3886200" cy="8229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788920"/>
            <a:ext cx="15544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BFD7EA"/>
                </a:solidFill>
                <a:latin typeface="Calibri"/>
              </a:rPr>
              <a:t>GPU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788920"/>
            <a:ext cx="22402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Swin-T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17A398"/>
                </a:solidFill>
                <a:latin typeface="Calibri"/>
              </a:rPr>
              <a:t>best accuracy per class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3703320"/>
            <a:ext cx="3886200" cy="8229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3749039"/>
            <a:ext cx="15544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BFD7EA"/>
                </a:solidFill>
                <a:latin typeface="Calibri"/>
              </a:rPr>
              <a:t>Offline screening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3749039"/>
            <a:ext cx="2240280" cy="7315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CNN + Transformer ensemble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17A398"/>
                </a:solidFill>
                <a:latin typeface="Calibri"/>
              </a:rPr>
              <a:t>accuracy dominates, latency does not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892040"/>
            <a:ext cx="6675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46903"/>
            <a:ext cx="645566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7480"/>
                </a:solidFill>
                <a:latin typeface="Calibri"/>
              </a:rPr>
              <a:t>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39512"/>
            <a:ext cx="64556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Several seeds · 384–512 px · patient metadata · test-time augmentation · calibration for triage · self-supervised pre-training on dermoscopy (DINO/MAE) · external validation on the official ISIC test set and PAD-UFES-20.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8079" y="4892040"/>
            <a:ext cx="42519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7807" y="4946903"/>
            <a:ext cx="4032504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A398"/>
                </a:solidFill>
                <a:latin typeface="Calibri"/>
              </a:rPr>
              <a:t>Reproducible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7" y="5239512"/>
            <a:ext cx="403250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libri"/>
              </a:rPr>
              <a:t>run_all.ps1 regenerates every number and figure; Colab notebook with a 442 MB fast path and a 3-minute demo mode.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6858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6858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FD7EA"/>
                </a:solidFill>
                <a:latin typeface="Calibri"/>
              </a:rPr>
              <a:t>José Alberto Martínez Navarro  ·  Aprendizaje Profundo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6949440" cy="3200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E4572E"/>
                </a:solidFill>
              </a:rPr>
              <a:t>▪ </a:t>
            </a:r>
            <a:r>
              <a:rPr sz="1400">
                <a:solidFill>
                  <a:srgbClr val="FFFFFF"/>
                </a:solidFill>
                <a:latin typeface="Calibri"/>
              </a:rPr>
              <a:t>Code, logs, figures, paper and slides: github.com/albertomartinez08/isic2019-cnn-vs-transformer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4572E"/>
                </a:solidFill>
              </a:rPr>
              <a:t>▪ </a:t>
            </a:r>
            <a:r>
              <a:rPr sz="1400">
                <a:solidFill>
                  <a:srgbClr val="FFFFFF"/>
                </a:solidFill>
                <a:latin typeface="Calibri"/>
              </a:rPr>
              <a:t>Open in Colab from the README · 442 MB fast path · --subset 0.1 demo in 3 min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4572E"/>
                </a:solidFill>
              </a:rPr>
              <a:t>▪ </a:t>
            </a:r>
            <a:r>
              <a:rPr sz="1400">
                <a:solidFill>
                  <a:srgbClr val="FFFFFF"/>
                </a:solidFill>
                <a:latin typeface="Calibri"/>
              </a:rPr>
              <a:t>Paper: IEEE conference format, 6 pages, 23 references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4572E"/>
                </a:solidFill>
              </a:rPr>
              <a:t>▪ </a:t>
            </a:r>
            <a:r>
              <a:rPr sz="1400">
                <a:solidFill>
                  <a:srgbClr val="FFFFFF"/>
                </a:solidFill>
                <a:latin typeface="Calibri"/>
              </a:rPr>
              <a:t>Data: ISIC 2019 (public), lesion-grouped split with seed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310896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459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4434840"/>
            <a:ext cx="29260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2440"/>
                </a:solidFill>
                <a:latin typeface="Calibri"/>
              </a:rPr>
              <a:t>Scan for the repository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